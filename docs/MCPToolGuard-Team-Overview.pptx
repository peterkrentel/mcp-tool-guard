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framing this as the organizational MCP controller — a governance layer we can put in front of every AI agent, not a one-off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Ground the pitch in a concrete failure mode before showing the fix: broad tokens, no audit, no checkpoint.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whole product in one diagram: guard sits in the path, checks scope, allows or denies, and logs every decision either 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Step 4 is the key point: the server is authoritative — the client SDK is only a pre-check for UX.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expectations before the demo screenshots: what we sell is proxy enforcement and audit replay, not the chat 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not our own toy server — it's GitHub's production MCP. Same JWT model, same enforcement, airtight scope check on someone else's upstream.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this isn't a hard deny — the approval queue lets a human unblock a legitimate write without widening the agent's standing permissions.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mechanism that makes the approval queue safe to demo to a client: the token itself carries no exploitable 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compliance dashboards, use the server guard JSON shipped to Grafana/Loki — not the browser panels, which are a teaching aid.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table is the guest demo profile, but the same read/write/delete pattern is how we'd model any enterprise resource.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three build-out tracks from the cursor guide are done with production proof docs — this isn't aspirational.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P0 list as hardening before the next client engagement; call out BL-016 as the headline ask driven directly by enterprise conversations.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long-range pitch: the same JWT-identity-audit foundation gets more valuable, not less, as we go up the stack to multi-agent orchestration.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the three concrete asks so the team leaves with something to do, not just something to admire.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" y="868680"/>
            <a:ext cx="1097280" cy="1097280"/>
          </a:xfrm>
          <a:prstGeom prst="ellipse">
            <a:avLst/>
          </a:prstGeom>
          <a:solidFill>
            <a:srgbClr val="141A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" y="1132027"/>
            <a:ext cx="570586" cy="5705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6060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MCPToolGuard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868680" y="36118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Organizational MCP Controller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68680" y="416052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security gateway for every AI agent tool call — JWT scope enforcement, human-in-the-loop approval, and a tamper-resistant audit trail.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68680" y="6080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8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Krentel   ·   mcp-tool-guard   ·   Team review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Agents can call tools. Nothing decides whether they should.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45820" y="2089404"/>
            <a:ext cx="777240" cy="777240"/>
          </a:xfrm>
          <a:prstGeom prst="ellipse">
            <a:avLst/>
          </a:prstGeom>
          <a:solidFill>
            <a:srgbClr val="EEF3F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2358" y="2275942"/>
            <a:ext cx="404165" cy="4041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20240" y="187452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access, one token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920240" y="2295144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credential often grants an agent every tool on a server — read, write, and delete alike.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845820" y="3387852"/>
            <a:ext cx="777240" cy="777240"/>
          </a:xfrm>
          <a:prstGeom prst="ellipse">
            <a:avLst/>
          </a:prstGeom>
          <a:solidFill>
            <a:srgbClr val="EEF3FC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358" y="3574390"/>
            <a:ext cx="404165" cy="40416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920240" y="3172968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durable audit trail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1920240" y="3593592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record of record, you can't prove what an agent attempted, let alone what it was allowed to do.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845820" y="4686300"/>
            <a:ext cx="777240" cy="777240"/>
          </a:xfrm>
          <a:prstGeom prst="ellipse">
            <a:avLst/>
          </a:prstGeom>
          <a:solidFill>
            <a:srgbClr val="EEF3F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358" y="4872838"/>
            <a:ext cx="404165" cy="40416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920240" y="4471416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checkpoint before impact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1920240" y="4892040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a booking, push code, message a channel — destructive calls execute instantly, with no human in the loop.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firewall between the agent and the tool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EEF3FC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3774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8954" y="250911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14884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108960" y="2651760"/>
            <a:ext cx="1005840" cy="0"/>
          </a:xfrm>
          <a:prstGeom prst="line">
            <a:avLst/>
          </a:prstGeom>
          <a:noFill/>
          <a:ln w="19050">
            <a:solidFill>
              <a:srgbClr val="6B769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114800" y="2011680"/>
            <a:ext cx="2651760" cy="1280160"/>
          </a:xfrm>
          <a:prstGeom prst="roundRect">
            <a:avLst>
              <a:gd name="adj" fmla="val 714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000000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57700" y="2354580"/>
            <a:ext cx="594360" cy="594360"/>
          </a:xfrm>
          <a:prstGeom prst="ellipse">
            <a:avLst/>
          </a:prstGeom>
          <a:solidFill>
            <a:srgbClr val="141A3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0346" y="2497226"/>
            <a:ext cx="309067" cy="30906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2064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MCPToolGuard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766560" y="2651760"/>
            <a:ext cx="457200" cy="0"/>
          </a:xfrm>
          <a:prstGeom prst="line">
            <a:avLst/>
          </a:prstGeom>
          <a:noFill/>
          <a:ln w="19050">
            <a:solidFill>
              <a:srgbClr val="6B769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223760" y="1645920"/>
            <a:ext cx="0" cy="1005840"/>
          </a:xfrm>
          <a:prstGeom prst="line">
            <a:avLst/>
          </a:prstGeom>
          <a:noFill/>
          <a:ln w="19050">
            <a:solidFill>
              <a:srgbClr val="1F9D5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223760" y="2651760"/>
            <a:ext cx="0" cy="82296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223760" y="1645920"/>
            <a:ext cx="914400" cy="0"/>
          </a:xfrm>
          <a:prstGeom prst="line">
            <a:avLst/>
          </a:prstGeom>
          <a:noFill/>
          <a:ln w="19050">
            <a:solidFill>
              <a:srgbClr val="1F9D55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223760" y="3474720"/>
            <a:ext cx="914400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840980" y="1394460"/>
            <a:ext cx="502920" cy="502920"/>
          </a:xfrm>
          <a:prstGeom prst="ellipse">
            <a:avLst/>
          </a:prstGeom>
          <a:solidFill>
            <a:srgbClr val="E5F6EC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1681" y="1515161"/>
            <a:ext cx="261518" cy="26151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458200" y="13258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matches — call reaches the MCP server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7840980" y="3223260"/>
            <a:ext cx="502920" cy="502920"/>
          </a:xfrm>
          <a:prstGeom prst="ellipse">
            <a:avLst/>
          </a:prstGeom>
          <a:solidFill>
            <a:srgbClr val="FBE7E4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1681" y="3343961"/>
            <a:ext cx="261518" cy="26151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458200" y="31546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missing — blocked before it reaches the tool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5440680" y="3291840"/>
            <a:ext cx="0" cy="502920"/>
          </a:xfrm>
          <a:prstGeom prst="line">
            <a:avLst/>
          </a:prstGeom>
          <a:noFill/>
          <a:ln w="15875">
            <a:solidFill>
              <a:srgbClr val="6B7690"/>
            </a:solidFill>
            <a:prstDash val="dash"/>
          </a:ln>
        </p:spPr>
      </p:sp>
      <p:sp>
        <p:nvSpPr>
          <p:cNvPr id="25" name="Shape 19"/>
          <p:cNvSpPr/>
          <p:nvPr/>
        </p:nvSpPr>
        <p:spPr>
          <a:xfrm>
            <a:off x="5189220" y="3863340"/>
            <a:ext cx="502920" cy="502920"/>
          </a:xfrm>
          <a:prstGeom prst="ellipse">
            <a:avLst/>
          </a:prstGeom>
          <a:solidFill>
            <a:srgbClr val="EEF3FC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9921" y="3984041"/>
            <a:ext cx="261518" cy="26151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611880" y="4434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is logged — allow or deny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it with one scoped JWT, one denied tool call, and one /audit query — not chat quality.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checks on every tools/call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234440" y="2743200"/>
            <a:ext cx="9722815" cy="0"/>
          </a:xfrm>
          <a:prstGeom prst="line">
            <a:avLst/>
          </a:prstGeom>
          <a:noFill/>
          <a:ln w="381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28600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2505456"/>
            <a:ext cx="475488" cy="47548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67512" y="2176272"/>
            <a:ext cx="1133856" cy="1133856"/>
          </a:xfrm>
          <a:prstGeom prst="ellipse">
            <a:avLst/>
          </a:prstGeom>
          <a:ln w="12700">
            <a:solidFill>
              <a:srgbClr val="1E276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17830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82880" y="3429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JWT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82880" y="379476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+ expiry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07944" y="228600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7400" y="2505456"/>
            <a:ext cx="475488" cy="47548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098216" y="2176272"/>
            <a:ext cx="1133856" cy="1133856"/>
          </a:xfrm>
          <a:prstGeom prst="ellipse">
            <a:avLst/>
          </a:prstGeom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162224" y="17830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2613584" y="3429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scopes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2613584" y="379476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flights:read, docs:write…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5638648" y="228600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8104" y="2505456"/>
            <a:ext cx="475488" cy="475488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528920" y="2176272"/>
            <a:ext cx="1133856" cy="1133856"/>
          </a:xfrm>
          <a:prstGeom prst="ellipse">
            <a:avLst/>
          </a:prstGeom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5592928" y="17830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5044288" y="3429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policy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5044288" y="379476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Per-tool required scope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8069351" y="228600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8807" y="2505456"/>
            <a:ext cx="475488" cy="475488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7959623" y="2176272"/>
            <a:ext cx="1133856" cy="1133856"/>
          </a:xfrm>
          <a:prstGeom prst="ellipse">
            <a:avLst/>
          </a:prstGeom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8023631" y="17830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7474991" y="3429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/ Deny</a:t>
            </a:r>
            <a:endParaRPr lang="en-US" sz="1350" dirty="0"/>
          </a:p>
        </p:txBody>
      </p:sp>
      <p:sp>
        <p:nvSpPr>
          <p:cNvPr id="28" name="Text 22"/>
          <p:cNvSpPr/>
          <p:nvPr/>
        </p:nvSpPr>
        <p:spPr>
          <a:xfrm>
            <a:off x="7474991" y="379476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is authoritative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10500055" y="228600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9511" y="2505456"/>
            <a:ext cx="475488" cy="475488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10390327" y="2176272"/>
            <a:ext cx="1133856" cy="1133856"/>
          </a:xfrm>
          <a:prstGeom prst="ellipse">
            <a:avLst/>
          </a:prstGeom>
          <a:ln w="12700">
            <a:solidFill>
              <a:srgbClr val="1E2761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10454335" y="17830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9905695" y="3429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350" dirty="0"/>
          </a:p>
        </p:txBody>
      </p:sp>
      <p:sp>
        <p:nvSpPr>
          <p:cNvPr id="34" name="Text 27"/>
          <p:cNvSpPr/>
          <p:nvPr/>
        </p:nvSpPr>
        <p:spPr>
          <a:xfrm>
            <a:off x="9905695" y="379476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session_id + trace_id</a:t>
            </a:r>
            <a:endParaRPr lang="en-US" sz="1050" dirty="0"/>
          </a:p>
        </p:txBody>
      </p:sp>
      <p:sp>
        <p:nvSpPr>
          <p:cNvPr id="35" name="Shape 28"/>
          <p:cNvSpPr/>
          <p:nvPr/>
        </p:nvSpPr>
        <p:spPr>
          <a:xfrm>
            <a:off x="640080" y="5074920"/>
            <a:ext cx="10911535" cy="960120"/>
          </a:xfrm>
          <a:prstGeom prst="roundRect">
            <a:avLst>
              <a:gd name="adj" fmla="val 7619"/>
            </a:avLst>
          </a:prstGeom>
          <a:solidFill>
            <a:srgbClr val="EEF3FC"/>
          </a:solidFill>
          <a:ln/>
        </p:spPr>
      </p:sp>
      <p:sp>
        <p:nvSpPr>
          <p:cNvPr id="36" name="Text 29"/>
          <p:cNvSpPr/>
          <p:nvPr/>
        </p:nvSpPr>
        <p:spPr>
          <a:xfrm>
            <a:off x="960120" y="5074920"/>
            <a:ext cx="102714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lives in one place — gateway/config.yaml — mapping each tool to a required_scope, not to “access to server X.” Wildcards (flights:*, *) scale it across many tools.</a:t>
            </a:r>
            <a:endParaRPr lang="en-US" sz="1300" dirty="0"/>
          </a:p>
        </p:txBody>
      </p:sp>
      <p:sp>
        <p:nvSpPr>
          <p:cNvPr id="37" name="Text 30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VS. PRESENTATION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actually prove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11535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6263640"/>
                <a:gridCol w="228600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 to prove it?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Proxy + GET /audit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42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Truth — enforcement decision + durable record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9D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ToolGuard SDK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42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Pre-check + agent-attempt log (intent)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76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 UI / chat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42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visualization — not authoritative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76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074920"/>
            <a:ext cx="10911535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05840" y="5074920"/>
            <a:ext cx="101800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canonical demo: one scoped JWT, one denied tools/call, one /audit query with a matching trace_id.”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PROOF — VENDOR MCP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Enforced against GitHub's real MCP server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706728" y="1691640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 </a:t>
            </a:r>
            <a:pPr indent="0" marL="0">
              <a:buNone/>
            </a:pPr>
            <a:r>
              <a:rPr lang="en-US" sz="1300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repo:read token → get_file_contents → 200, README returned</a:t>
            </a:r>
            <a:endParaRPr lang="en-US" sz="1300" dirty="0"/>
          </a:p>
        </p:txBody>
      </p:sp>
      <p:pic>
        <p:nvPicPr>
          <p:cNvPr id="5" name="Image 0" descr="/Users/peterkrentel/repos/mcp-tool-guard/docs/images/demo/track2-github-curl-read-al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9849" y="2057400"/>
            <a:ext cx="6251997" cy="1965960"/>
          </a:xfrm>
          <a:prstGeom prst="rect">
            <a:avLst/>
          </a:prstGeom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1706728" y="4343400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  </a:t>
            </a:r>
            <a:pPr indent="0" marL="0">
              <a:buNone/>
            </a:pPr>
            <a:r>
              <a:rPr lang="en-US" sz="1300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repo:read-only token → create_or_update_file → blocked with -32001, before GitHub ever sees it</a:t>
            </a:r>
            <a:endParaRPr lang="en-US" sz="1300" dirty="0"/>
          </a:p>
        </p:txBody>
      </p:sp>
      <p:pic>
        <p:nvPicPr>
          <p:cNvPr id="7" name="Image 1" descr="/Users/peterkrentel/repos/mcp-tool-guard/docs/images/demo/track2-github-curl-write-den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9712" y="4709160"/>
            <a:ext cx="6152271" cy="1874520"/>
          </a:xfrm>
          <a:prstGeom prst="rect">
            <a:avLst/>
          </a:prstGeom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pic>
      <p:sp>
        <p:nvSpPr>
          <p:cNvPr id="8" name="Text 4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PROOF — APPROVAL QUEUE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Sensitive actions wait for a human</a:t>
            </a:r>
            <a:endParaRPr lang="en-US" sz="3000" dirty="0"/>
          </a:p>
        </p:txBody>
      </p:sp>
      <p:pic>
        <p:nvPicPr>
          <p:cNvPr id="4" name="Image 0" descr="/Users/peterkrentel/repos/mcp-tool-guard/docs/images/demo/slack-approval-que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83080"/>
            <a:ext cx="5120640" cy="3943330"/>
          </a:xfrm>
          <a:prstGeom prst="rect">
            <a:avLst/>
          </a:prstGeom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6163056" y="1819656"/>
            <a:ext cx="566928" cy="566928"/>
          </a:xfrm>
          <a:prstGeom prst="ellipse">
            <a:avLst/>
          </a:prstGeom>
          <a:solidFill>
            <a:srgbClr val="EEF3FC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9119" y="1955719"/>
            <a:ext cx="294803" cy="29480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903720" y="17830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requests slack_send_message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6903720" y="216712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doesn't carry slack:write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163056" y="2871216"/>
            <a:ext cx="566928" cy="566928"/>
          </a:xfrm>
          <a:prstGeom prst="ellipse">
            <a:avLst/>
          </a:prstGeom>
          <a:solidFill>
            <a:srgbClr val="EEF3FC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9119" y="3007279"/>
            <a:ext cx="294803" cy="29480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903720" y="28346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is held, not denied outright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6903720" y="321868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 pending, admin queue in /agents.html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6163056" y="3922776"/>
            <a:ext cx="566928" cy="566928"/>
          </a:xfrm>
          <a:prstGeom prst="ellipse">
            <a:avLst/>
          </a:prstGeom>
          <a:solidFill>
            <a:srgbClr val="EEF3FC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9119" y="4058839"/>
            <a:ext cx="294803" cy="29480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903720" y="38862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approves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6903720" y="427024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One-time, single-use approval token issued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6163056" y="4974336"/>
            <a:ext cx="566928" cy="566928"/>
          </a:xfrm>
          <a:prstGeom prst="ellipse">
            <a:avLst/>
          </a:prstGeom>
          <a:solidFill>
            <a:srgbClr val="EEF3FC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9119" y="5110399"/>
            <a:ext cx="294803" cy="294803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903720" y="49377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retries with the token</a:t>
            </a:r>
            <a:endParaRPr lang="en-US" sz="1400" dirty="0"/>
          </a:p>
        </p:txBody>
      </p:sp>
      <p:sp>
        <p:nvSpPr>
          <p:cNvPr id="20" name="Text 13"/>
          <p:cNvSpPr/>
          <p:nvPr/>
        </p:nvSpPr>
        <p:spPr>
          <a:xfrm>
            <a:off x="6903720" y="532180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is delivered to the real Slack channel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Approval tokens: opaque, single-use, time-boxed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32308" y="1828800"/>
            <a:ext cx="3429000" cy="4023360"/>
          </a:xfrm>
          <a:prstGeom prst="roundRect">
            <a:avLst>
              <a:gd name="adj" fmla="val 2667"/>
            </a:avLst>
          </a:prstGeom>
          <a:solidFill>
            <a:srgbClr val="EEF3FC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89608" y="214884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9064" y="2368296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0908" y="32461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Opaque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06628" y="3703320"/>
            <a:ext cx="2880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at_ + random ID. No JWT claims, no internal structure a client can inspect or manipulate.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1180948" y="5074920"/>
            <a:ext cx="2331720" cy="0"/>
          </a:xfrm>
          <a:prstGeom prst="line">
            <a:avLst/>
          </a:prstGeom>
          <a:noFill/>
          <a:ln w="12700">
            <a:solidFill>
              <a:srgbClr val="D7E0F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0908" y="52120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tampering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81348" y="1828800"/>
            <a:ext cx="3429000" cy="4023360"/>
          </a:xfrm>
          <a:prstGeom prst="roundRect">
            <a:avLst>
              <a:gd name="adj" fmla="val 2667"/>
            </a:avLst>
          </a:prstGeom>
          <a:solidFill>
            <a:srgbClr val="EEF3FC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638648" y="214884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8104" y="2368296"/>
            <a:ext cx="475488" cy="4754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09948" y="32461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Single-use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655668" y="3703320"/>
            <a:ext cx="2880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Burned on first validation. A captured token cannot be replayed on a second attempt.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4929988" y="5074920"/>
            <a:ext cx="2331720" cy="0"/>
          </a:xfrm>
          <a:prstGeom prst="line">
            <a:avLst/>
          </a:prstGeom>
          <a:noFill/>
          <a:ln w="12700">
            <a:solidFill>
              <a:srgbClr val="D7E0F2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609948" y="52120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replay attacks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8130388" y="1828800"/>
            <a:ext cx="3429000" cy="4023360"/>
          </a:xfrm>
          <a:prstGeom prst="roundRect">
            <a:avLst>
              <a:gd name="adj" fmla="val 2667"/>
            </a:avLst>
          </a:prstGeom>
          <a:solidFill>
            <a:srgbClr val="EEF3FC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9387688" y="214884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7144" y="2368296"/>
            <a:ext cx="475488" cy="47548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358988" y="32461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Time-limited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8404708" y="3703320"/>
            <a:ext cx="2880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Expires after a 1-hour TTL, and is bound to a specific server + tool, not a JWT scope grant.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8679028" y="5074920"/>
            <a:ext cx="2331720" cy="0"/>
          </a:xfrm>
          <a:prstGeom prst="line">
            <a:avLst/>
          </a:prstGeom>
          <a:noFill/>
          <a:ln w="12700">
            <a:solidFill>
              <a:srgbClr val="D7E0F2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8358988" y="52120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scope inflation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views, one authoritative source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52120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834640"/>
                <a:gridCol w="1280160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trace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42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Heuristic vs. LLM routing, model preview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B76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Debug only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attempts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42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tool, which scopes, client pre-check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B76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Debug only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enforcement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42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reached MCP, JWT valid?, final allow/deny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9D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Authoritative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074920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plane correlates on a shared trace_id. A client-side deny still shows in the trace and attempt logs — but never creates a server row.</a:t>
            </a:r>
            <a:endParaRPr lang="en-US" sz="1200" dirty="0"/>
          </a:p>
        </p:txBody>
      </p:sp>
      <p:pic>
        <p:nvPicPr>
          <p:cNvPr id="6" name="Image 0" descr="/Users/peterkrentel/repos/mcp-tool-guard/docs/images/demo/slack-grafana-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82335" y="2601363"/>
            <a:ext cx="5669280" cy="2569674"/>
          </a:xfrm>
          <a:prstGeom prst="rect">
            <a:avLst/>
          </a:prstGeom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pic>
      <p:sp>
        <p:nvSpPr>
          <p:cNvPr id="7" name="Text 3"/>
          <p:cNvSpPr/>
          <p:nvPr/>
        </p:nvSpPr>
        <p:spPr>
          <a:xfrm>
            <a:off x="5882335" y="5244189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guard decisions shipped via OpenTelemetry into Grafana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Bring your own IdP — we only enforce scopes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Auth0, Keycloak, or Azure AD decide who a principal is and which scopes land on their token. MCPToolGuard never manages users or groups — at tools/call, it only asks one question: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10911535" cy="685800"/>
          </a:xfrm>
          <a:prstGeom prst="roundRect">
            <a:avLst>
              <a:gd name="adj" fmla="val 10667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3774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“Does this Bearer token include the scope required for this tool?”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337560"/>
          <a:ext cx="1091153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468880"/>
                <a:gridCol w="2231136"/>
                <a:gridCol w="2231136"/>
                <a:gridCol w="22402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bundle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Scopes granted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read_only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42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flights:read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F9D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42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flights:write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F9D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F9D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42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flights:delete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F9D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F9D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F9D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57150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pattern scales to any domain (docs:read, slack:write, repo:read…) — assign roles in the IdP, not per-MCP URLs.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Shipped: three tracks, production-proven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27168" cy="1874520"/>
          </a:xfrm>
          <a:prstGeom prst="roundRect">
            <a:avLst>
              <a:gd name="adj" fmla="val 4390"/>
            </a:avLst>
          </a:prstGeom>
          <a:solidFill>
            <a:srgbClr val="EEF3FC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400300"/>
            <a:ext cx="640080" cy="640080"/>
          </a:xfrm>
          <a:prstGeom prst="ellipse">
            <a:avLst/>
          </a:prstGeom>
          <a:solidFill>
            <a:srgbClr val="E5F6E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019" y="255391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011680"/>
            <a:ext cx="394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1 — KV registry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691640" y="2468880"/>
            <a:ext cx="39470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MCP + agent registry persists across proxy restarts (Upstash KV).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324448" y="1783080"/>
            <a:ext cx="5227168" cy="1874520"/>
          </a:xfrm>
          <a:prstGeom prst="roundRect">
            <a:avLst>
              <a:gd name="adj" fmla="val 4390"/>
            </a:avLst>
          </a:prstGeom>
          <a:solidFill>
            <a:srgbClr val="EEF3FC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98768" y="2400300"/>
            <a:ext cx="640080" cy="640080"/>
          </a:xfrm>
          <a:prstGeom prst="ellipse">
            <a:avLst/>
          </a:prstGeom>
          <a:solidFill>
            <a:srgbClr val="E5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2387" y="255391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76008" y="2011680"/>
            <a:ext cx="394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2 — GitHub MCP (vendor)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7376008" y="2468880"/>
            <a:ext cx="39470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upstream, not our own server. repo:read allowed, write denied at the proxy before GitHub sees it.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3977640"/>
            <a:ext cx="5227168" cy="1874520"/>
          </a:xfrm>
          <a:prstGeom prst="roundRect">
            <a:avLst>
              <a:gd name="adj" fmla="val 4390"/>
            </a:avLst>
          </a:prstGeom>
          <a:solidFill>
            <a:srgbClr val="EEF3FC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4594860"/>
            <a:ext cx="640080" cy="640080"/>
          </a:xfrm>
          <a:prstGeom prst="ellipse">
            <a:avLst/>
          </a:prstGeom>
          <a:solidFill>
            <a:srgbClr val="E5F6E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019" y="474847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206240"/>
            <a:ext cx="394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3 — Approval queue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691640" y="4663440"/>
            <a:ext cx="39470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End-to-end: pending call, admin approval, one-time token, agent retry, delivered result.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324448" y="3977640"/>
            <a:ext cx="5227168" cy="1874520"/>
          </a:xfrm>
          <a:prstGeom prst="roundRect">
            <a:avLst>
              <a:gd name="adj" fmla="val 4390"/>
            </a:avLst>
          </a:prstGeom>
          <a:solidFill>
            <a:srgbClr val="EEF3FC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98768" y="4594860"/>
            <a:ext cx="640080" cy="640080"/>
          </a:xfrm>
          <a:prstGeom prst="ellipse">
            <a:avLst/>
          </a:prstGeom>
          <a:solidFill>
            <a:srgbClr val="E5F6E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2387" y="4748479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76008" y="4206240"/>
            <a:ext cx="394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export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376008" y="4663440"/>
            <a:ext cx="39470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OTLP export of every proxy decision (allow / deny / pending) into Grafana/Loki.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Near-term priorities before the next client build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— next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6675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 agent audit ingest auth (POST /audit/agent)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 pending-token disclosure (GET /pending/:id)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/ Auth0 registry hygiene — idempotent create, reconciliation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packaging + distribution path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audit sink integration (OTel → SIEM)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680960" y="1737360"/>
            <a:ext cx="3870655" cy="3429000"/>
          </a:xfrm>
          <a:prstGeom prst="roundRect">
            <a:avLst>
              <a:gd name="adj" fmla="val 266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59088" y="1965960"/>
            <a:ext cx="914400" cy="914400"/>
          </a:xfrm>
          <a:prstGeom prst="ellipse">
            <a:avLst/>
          </a:prstGeom>
          <a:solidFill>
            <a:srgbClr val="141A3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8544" y="2185416"/>
            <a:ext cx="475488" cy="4754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001000" y="2971800"/>
            <a:ext cx="3230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BL-016 — Tamper-evident audit receipts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001000" y="3611880"/>
            <a:ext cx="323057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or hash every audit record at execution time, with a verification endpoint so security teams can prove the log hasn't been altered.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001000" y="4846320"/>
            <a:ext cx="3230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clients need proof of integrity, not just logs.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runtime authorization plane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beyond “JWT scopes for MCP tools” to the definitive, vendor-neutral control plane for autonomous agent execution.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2522144" cy="2286000"/>
          </a:xfrm>
          <a:prstGeom prst="roundRect">
            <a:avLst>
              <a:gd name="adj" fmla="val 3600"/>
            </a:avLst>
          </a:prstGeom>
          <a:solidFill>
            <a:srgbClr val="EEF3FC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12532" y="267462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9069" y="2861158"/>
            <a:ext cx="404165" cy="40416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520440"/>
            <a:ext cx="2156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delegation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3977640"/>
            <a:ext cx="21563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“Peter approved this agent to act on his behalf, for this window.”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436544" y="2468880"/>
            <a:ext cx="2522144" cy="2286000"/>
          </a:xfrm>
          <a:prstGeom prst="roundRect">
            <a:avLst>
              <a:gd name="adj" fmla="val 3600"/>
            </a:avLst>
          </a:prstGeom>
          <a:solidFill>
            <a:srgbClr val="EEF3FC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08996" y="267462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533" y="2861158"/>
            <a:ext cx="404165" cy="40416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19424" y="3520440"/>
            <a:ext cx="2156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 credentials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619424" y="3977640"/>
            <a:ext cx="21563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Short-lived, attenuated tokens minted at the moment of tool invocation.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233008" y="2468880"/>
            <a:ext cx="2522144" cy="2286000"/>
          </a:xfrm>
          <a:prstGeom prst="roundRect">
            <a:avLst>
              <a:gd name="adj" fmla="val 3600"/>
            </a:avLst>
          </a:prstGeom>
          <a:solidFill>
            <a:srgbClr val="EEF3FC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105460" y="267462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1997" y="2861158"/>
            <a:ext cx="404165" cy="40416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15888" y="3520440"/>
            <a:ext cx="2156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Intent-aware policy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415888" y="3977640"/>
            <a:ext cx="21563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Context, tool-chaining patterns, and payloads inform allow/deny, not static lists.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9029471" y="2468880"/>
            <a:ext cx="2522144" cy="2286000"/>
          </a:xfrm>
          <a:prstGeom prst="roundRect">
            <a:avLst>
              <a:gd name="adj" fmla="val 3600"/>
            </a:avLst>
          </a:prstGeom>
          <a:solidFill>
            <a:srgbClr val="EEF3FC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901923" y="267462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8461" y="2861158"/>
            <a:ext cx="404165" cy="40416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12351" y="3520440"/>
            <a:ext cx="2156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audit + OTel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9212351" y="3977640"/>
            <a:ext cx="21563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4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parent-child spans: agent intent → policy → tool call → execution.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640080" y="50292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protocol today. Any protocol tomorrow: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4663440" y="498348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7" name="Text 21"/>
          <p:cNvSpPr/>
          <p:nvPr/>
        </p:nvSpPr>
        <p:spPr>
          <a:xfrm>
            <a:off x="4663440" y="49834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6537960" y="498348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9" name="Text 23"/>
          <p:cNvSpPr/>
          <p:nvPr/>
        </p:nvSpPr>
        <p:spPr>
          <a:xfrm>
            <a:off x="6537960" y="49834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8412480" y="498348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1" name="Text 25"/>
          <p:cNvSpPr/>
          <p:nvPr/>
        </p:nvSpPr>
        <p:spPr>
          <a:xfrm>
            <a:off x="8412480" y="49834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/ Webhooks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10287000" y="498348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3" name="Text 27"/>
          <p:cNvSpPr/>
          <p:nvPr/>
        </p:nvSpPr>
        <p:spPr>
          <a:xfrm>
            <a:off x="10287000" y="49834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/ SSH / K8s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runtime environment handles where the agent runs. ToolGuard handles what it's allowed to do — across the entire enterprise fabric.</a:t>
            </a:r>
            <a:endParaRPr lang="en-US" sz="1400" dirty="0"/>
          </a:p>
        </p:txBody>
      </p:sp>
      <p:sp>
        <p:nvSpPr>
          <p:cNvPr id="35" name="Text 29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make this the standard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99971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SVP has already floated this as the organizational MCP controller — the governance layer we could ship with every AI client build.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45820" y="2628900"/>
            <a:ext cx="685800" cy="685800"/>
          </a:xfrm>
          <a:prstGeom prst="ellipse">
            <a:avLst/>
          </a:prstGeom>
          <a:solidFill>
            <a:srgbClr val="141A3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412" y="2793492"/>
            <a:ext cx="356616" cy="3566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2606040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on the scope model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783080" y="3008376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tool → scope mapping match how your engagements actually grant access?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45820" y="3589020"/>
            <a:ext cx="685800" cy="685800"/>
          </a:xfrm>
          <a:prstGeom prst="ellipse">
            <a:avLst/>
          </a:prstGeom>
          <a:solidFill>
            <a:srgbClr val="141A3D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3753612"/>
            <a:ext cx="356616" cy="35661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83080" y="3566160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 case to pilot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1783080" y="3968496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 an MCP or client workflow to wire through the proxy next.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845820" y="4549140"/>
            <a:ext cx="685800" cy="685800"/>
          </a:xfrm>
          <a:prstGeom prst="ellipse">
            <a:avLst/>
          </a:prstGeom>
          <a:solidFill>
            <a:srgbClr val="141A3D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4713732"/>
            <a:ext cx="356616" cy="35661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783080" y="4526280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closing P0 backlog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1783080" y="4928616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hardening and SDK packaging before this goes in front of a client.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640080" y="6172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8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Krentel   ·   github.com/peterkrentel/mcp-tool-guard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MCPToolGuard — Overview</dc:title>
  <dc:subject>PptxGenJS Presentation</dc:subject>
  <dc:creator>Peter Krentel</dc:creator>
  <cp:lastModifiedBy>Peter Krentel</cp:lastModifiedBy>
  <cp:revision>1</cp:revision>
  <dcterms:created xsi:type="dcterms:W3CDTF">2026-07-06T14:50:34Z</dcterms:created>
  <dcterms:modified xsi:type="dcterms:W3CDTF">2026-07-06T14:50:34Z</dcterms:modified>
</cp:coreProperties>
</file>